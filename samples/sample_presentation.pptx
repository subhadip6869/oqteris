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1270000" y="2032000"/>
            <a:ext cx="9652000" cy="1143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r>
              <a:rPr lang="en-US" sz="3800" b="true" i="false">
                <a:solidFill>
                  <a:srgbClr val="104473"/>
                </a:solidFill>
                <a:latin typeface="Segoe UI"/>
              </a:rPr>
              <a:t>Oqteris Office Suite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1905000" y="3429000"/>
            <a:ext cx="8382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r>
              <a:rPr lang="en-US" sz="2000" b="false" i="false">
                <a:solidFill>
                  <a:srgbClr val="646464"/>
                </a:solidFill>
                <a:latin typeface="Segoe UI"/>
              </a:rPr>
              <a:t>Independent, Modern Cross-Platform Office Productivity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508000"/>
            <a:ext cx="10668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r>
              <a:rPr lang="en-US" sz="2800" b="true" i="false">
                <a:solidFill>
                  <a:srgbClr val="104473"/>
                </a:solidFill>
                <a:latin typeface="Segoe UI"/>
              </a:rPr>
              <a:t>Productivity Applications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762000" y="1524000"/>
            <a:ext cx="10668000" cy="457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r>
              <a:rPr lang="en-US" sz="1800" b="false" i="false">
                <a:solidFill>
                  <a:srgbClr val="1E1E1E"/>
                </a:solidFill>
                <a:latin typeface="Segoe UI"/>
              </a:rPr>
              <a:t>• Oqteris Writer: Standalone Word Processor with DOCX layout &amp; pagination</a:t>
            </a:r>
          </a:p>
          <a:p>
            <a:r>
              <a:rPr lang="en-US" sz="1800" b="false" i="false">
                <a:solidFill>
                  <a:srgbClr val="1E1E1E"/>
                </a:solidFill>
                <a:latin typeface="Segoe UI"/>
              </a:rPr>
              <a:t>• Oqteris Calc: Virtualized Canvas Spreadsheet with DAG formula recalculation</a:t>
            </a:r>
          </a:p>
          <a:p>
            <a:r>
              <a:rPr lang="en-US" sz="1800" b="false" i="false">
                <a:solidFill>
                  <a:srgbClr val="1E1E1E"/>
                </a:solidFill>
                <a:latin typeface="Segoe UI"/>
              </a:rPr>
              <a:t>• Oqteris Impress: Presentation Canvas with transitions &amp; slideshow mode</a:t>
            </a:r>
          </a:p>
          <a:p>
            <a:r>
              <a:rPr lang="en-US" sz="1800" b="false" i="false">
                <a:solidFill>
                  <a:srgbClr val="1E1E1E"/>
                </a:solidFill>
                <a:latin typeface="Segoe UI"/>
              </a:rPr>
              <a:t>• Oqteris PDF: Fast PDF viewer with cryptographic signature &amp; trust verification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762000" y="508000"/>
            <a:ext cx="10668000" cy="635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r>
              <a:rPr lang="en-US" sz="2600" b="true" i="false">
                <a:solidFill>
                  <a:srgbClr val="104473"/>
                </a:solidFill>
                <a:latin typeface="Segoe UI"/>
              </a:rPr>
              <a:t>Vector Geometry &amp; Custom Visuals</a:t>
            </a:r>
          </a:p>
        </p:txBody>
      </p:sp>
      <p:sp>
        <p:nvSpPr>
          <p:cNvPr name="AutoShape 3" id="3"/>
          <p:cNvSpPr/>
          <p:nvPr/>
        </p:nvSpPr>
        <p:spPr>
          <a:xfrm>
            <a:off x="1016000" y="1524000"/>
            <a:ext cx="3048000" cy="1778000"/>
          </a:xfrm>
          <a:prstGeom prst="roundRect">
            <a:avLst/>
          </a:prstGeom>
          <a:solidFill>
            <a:srgbClr val="4175A4"/>
          </a:solidFill>
        </p:spPr>
      </p:sp>
      <p:sp>
        <p:nvSpPr>
          <p:cNvPr name="AutoShape 4" id="4"/>
          <p:cNvSpPr/>
          <p:nvPr/>
        </p:nvSpPr>
        <p:spPr>
          <a:xfrm>
            <a:off x="4572000" y="1524000"/>
            <a:ext cx="3048000" cy="1778000"/>
          </a:xfrm>
          <a:prstGeom prst="ellipse">
            <a:avLst/>
          </a:prstGeom>
          <a:solidFill>
            <a:srgbClr val="4CAF50"/>
          </a:solidFill>
        </p:spPr>
      </p:sp>
      <p:sp>
        <p:nvSpPr>
          <p:cNvPr name="AutoShape 5" id="5"/>
          <p:cNvSpPr/>
          <p:nvPr/>
        </p:nvSpPr>
        <p:spPr>
          <a:xfrm>
            <a:off x="8128000" y="1524000"/>
            <a:ext cx="3048000" cy="1778000"/>
          </a:xfrm>
          <a:prstGeom prst="triangle">
            <a:avLst/>
          </a:prstGeom>
          <a:solidFill>
            <a:srgbClr val="E65100"/>
          </a:solidFill>
        </p:spPr>
      </p:sp>
      <p:sp>
        <p:nvSpPr>
          <p:cNvPr name="TextBox 6" id="6"/>
          <p:cNvSpPr txBox="true"/>
          <p:nvPr/>
        </p:nvSpPr>
        <p:spPr>
          <a:xfrm>
            <a:off x="1016000" y="3810000"/>
            <a:ext cx="10160000" cy="1270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IN"/>
              <a:t/>
            </a:r>
            <a:endParaRPr lang="en-US" sz="1100"/>
          </a:p>
          <a:p>
            <a:r>
              <a:rPr lang="en-US" sz="1600" b="false" i="false">
                <a:solidFill>
                  <a:srgbClr val="3C3C3C"/>
                </a:solidFill>
                <a:latin typeface="Segoe UI"/>
              </a:rPr>
              <a:t>Shapes are rendered cleanly on JavaFX Canvas and preserved accurately through standard Office Open XML (PPTX) export and import pipelines.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